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8159" autoAdjust="0"/>
  </p:normalViewPr>
  <p:slideViewPr>
    <p:cSldViewPr snapToGrid="0" snapToObjects="1">
      <p:cViewPr>
        <p:scale>
          <a:sx n="107" d="100"/>
          <a:sy n="107" d="100"/>
        </p:scale>
        <p:origin x="-30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31844.94</c:v>
                </c:pt>
                <c:pt idx="1">
                  <c:v>31969.37</c:v>
                </c:pt>
                <c:pt idx="2">
                  <c:v>28850.48</c:v>
                </c:pt>
                <c:pt idx="3">
                  <c:v>11673.3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601600"/>
        <c:axId val="206603392"/>
      </c:barChart>
      <c:catAx>
        <c:axId val="20660160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B050"/>
                </a:solidFill>
              </a:defRPr>
            </a:pPr>
            <a:endParaRPr lang="en-US"/>
          </a:p>
        </c:txPr>
        <c:crossAx val="206603392"/>
        <c:crosses val="autoZero"/>
        <c:auto val="1"/>
        <c:lblAlgn val="ctr"/>
        <c:lblOffset val="100"/>
        <c:noMultiLvlLbl val="0"/>
      </c:catAx>
      <c:valAx>
        <c:axId val="2066033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en-US"/>
          </a:p>
        </c:txPr>
        <c:crossAx val="206601600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3469106456032616E-2"/>
          <c:y val="6.8239539910452368E-2"/>
          <c:w val="0.87460217236996318"/>
          <c:h val="0.841264602954042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4AF0B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F0B0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E8EAF0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3"/>
                <c:pt idx="0">
                  <c:v>Accessories</c:v>
                </c:pt>
                <c:pt idx="1">
                  <c:v>Home Apliance</c:v>
                </c:pt>
                <c:pt idx="2">
                  <c:v>Electronics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615</c:v>
                </c:pt>
                <c:pt idx="1">
                  <c:v>501</c:v>
                </c:pt>
                <c:pt idx="2">
                  <c:v>485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14038016"/>
        <c:axId val="214305408"/>
      </c:barChart>
      <c:catAx>
        <c:axId val="2140380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3283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14305408"/>
        <c:crosses val="autoZero"/>
        <c:auto val="1"/>
        <c:lblAlgn val="ctr"/>
        <c:lblOffset val="100"/>
        <c:noMultiLvlLbl val="1"/>
      </c:catAx>
      <c:valAx>
        <c:axId val="214305408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28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3283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14038016"/>
        <c:crosses val="autoZero"/>
        <c:crossBetween val="between"/>
      </c:valAx>
      <c:spPr>
        <a:solidFill>
          <a:schemeClr val="tx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113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C040"/>
              </a:solidFill>
              <a:effectLst/>
            </c:spPr>
          </c:dPt>
          <c:dPt>
            <c:idx val="1"/>
            <c:bubble3D val="0"/>
            <c:spPr>
              <a:solidFill>
                <a:srgbClr val="4AF0B0"/>
              </a:solidFill>
              <a:effectLst/>
            </c:spPr>
          </c:dPt>
          <c:dPt>
            <c:idx val="2"/>
            <c:bubble3D val="0"/>
            <c:spPr>
              <a:solidFill>
                <a:srgbClr val="F06080"/>
              </a:solidFill>
              <a:effectLst/>
            </c:spPr>
          </c:dPt>
          <c:dPt>
            <c:idx val="3"/>
            <c:bubble3D val="0"/>
            <c:spPr>
              <a:solidFill>
                <a:srgbClr val="6080F0"/>
              </a:solidFill>
              <a:effectLst/>
            </c:spPr>
          </c:dPt>
          <c:dPt>
            <c:idx val="4"/>
            <c:bubble3D val="0"/>
            <c:spPr>
              <a:solidFill>
                <a:srgbClr val="F0A040"/>
              </a:solidFill>
              <a:effectLst/>
            </c:spPr>
          </c:dPt>
          <c:dPt>
            <c:idx val="5"/>
            <c:bubble3D val="0"/>
            <c:spPr>
              <a:solidFill>
                <a:srgbClr val="A060F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9.6277403425533342E-2"/>
                  <c:y val="7.3739128197210638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3"/>
                <c:pt idx="0">
                  <c:v>Electronics</c:v>
                </c:pt>
                <c:pt idx="1">
                  <c:v>Home Appliance</c:v>
                </c:pt>
                <c:pt idx="2">
                  <c:v>Accessories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110090</c:v>
                </c:pt>
                <c:pt idx="1">
                  <c:v>72076</c:v>
                </c:pt>
                <c:pt idx="2">
                  <c:v>66060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11318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321173194696816"/>
          <c:y val="0.90835552725027013"/>
          <c:w val="0.71885431388384158"/>
          <c:h val="6.7134668828161187E-2"/>
        </c:manualLayout>
      </c:layout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31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F0B0"/>
              </a:solidFill>
              <a:effectLst/>
            </c:spPr>
          </c:dPt>
          <c:dPt>
            <c:idx val="1"/>
            <c:bubble3D val="0"/>
            <c:spPr>
              <a:solidFill>
                <a:srgbClr val="F0C040"/>
              </a:solidFill>
              <a:effectLst/>
            </c:spPr>
          </c:dPt>
          <c:dPt>
            <c:idx val="2"/>
            <c:bubble3D val="0"/>
            <c:spPr>
              <a:solidFill>
                <a:srgbClr val="F0608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chemeClr val="tx1"/>
                      </a:solidFill>
                      <a:latin typeface="Consola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Small (&lt;$500)</c:v>
                </c:pt>
                <c:pt idx="1">
                  <c:v>Medium ($500–$1K)</c:v>
                </c:pt>
                <c:pt idx="2">
                  <c:v>Large (&gt;$1K)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26</c:v>
                </c:pt>
                <c:pt idx="2">
                  <c:v>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111318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Consolas"/>
              <a:cs typeface="Consola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13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44C09-6912-4802-9D0F-19F650807429}" type="datetimeFigureOut">
              <a:rPr lang="en-GB" smtClean="0"/>
              <a:t>11/02/2026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A8872-E4B8-4CF2-8D43-E0877B0396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74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4572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3716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200400"/>
            <a:ext cx="54864" cy="5486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842" y="328474"/>
            <a:ext cx="4190260" cy="781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500" dirty="0" smtClean="0">
                <a:latin typeface="Consolas" pitchFamily="34" charset="0"/>
              </a:rPr>
              <a:t>PROJECT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531620" y="1371601"/>
            <a:ext cx="6697979" cy="776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Sales Analysis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548640" y="2571750"/>
            <a:ext cx="7840758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SQL Project · 36 Queries · Products · Customers · Orders · Revenue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196596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474720"/>
            <a:ext cx="196596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566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REVENUE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" y="3870664"/>
            <a:ext cx="1737360" cy="71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r>
              <a:rPr lang="en-US" sz="28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248K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2724912" y="3474720"/>
            <a:ext cx="196596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24912" y="3474720"/>
            <a:ext cx="1965960" cy="54864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3566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34640" y="3870664"/>
            <a:ext cx="1737360" cy="71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4901184" y="3474720"/>
            <a:ext cx="196596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01184" y="3474720"/>
            <a:ext cx="1965960" cy="54864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566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ORDER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10912" y="3870664"/>
            <a:ext cx="1737360" cy="71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06080"/>
                </a:solidFill>
                <a:latin typeface="Georgia" pitchFamily="34" charset="0"/>
              </a:rPr>
              <a:t>67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7077456" y="3474720"/>
            <a:ext cx="196596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77456" y="3474720"/>
            <a:ext cx="1965960" cy="54864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7184" y="35661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Sold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187184" y="3870664"/>
            <a:ext cx="1737360" cy="71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6080F0"/>
                </a:solidFill>
                <a:latin typeface="Georgia" pitchFamily="34" charset="0"/>
              </a:rPr>
              <a:t>100</a:t>
            </a:r>
            <a:endParaRPr lang="en-US" sz="2800" dirty="0"/>
          </a:p>
        </p:txBody>
      </p:sp>
      <p:sp>
        <p:nvSpPr>
          <p:cNvPr id="47" name="Shape 6"/>
          <p:cNvSpPr/>
          <p:nvPr/>
        </p:nvSpPr>
        <p:spPr>
          <a:xfrm>
            <a:off x="301843" y="2271354"/>
            <a:ext cx="8741574" cy="45719"/>
          </a:xfrm>
          <a:prstGeom prst="rect">
            <a:avLst/>
          </a:prstGeom>
          <a:solidFill>
            <a:srgbClr val="FFC000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15"/>
          <p:cNvSpPr/>
          <p:nvPr/>
        </p:nvSpPr>
        <p:spPr>
          <a:xfrm>
            <a:off x="411214" y="2396794"/>
            <a:ext cx="3840480" cy="688819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661385"/>
            <a:ext cx="9144000" cy="847819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201" y="159797"/>
            <a:ext cx="7667200" cy="33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Arial" pitchFamily="34" charset="0"/>
                <a:ea typeface="Consolas" pitchFamily="34" charset="-122"/>
                <a:cs typeface="Arial" pitchFamily="34" charset="0"/>
              </a:rPr>
              <a:t>PROJECT OVERVIEW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4497" y="763480"/>
            <a:ext cx="5809103" cy="568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Georgia" pitchFamily="34" charset="-122"/>
                <a:cs typeface="Arial" pitchFamily="34" charset="0"/>
              </a:rPr>
              <a:t>About This </a:t>
            </a:r>
            <a:r>
              <a:rPr lang="en-US" sz="3200" b="1" dirty="0" smtClean="0">
                <a:solidFill>
                  <a:srgbClr val="FFC000"/>
                </a:solidFill>
                <a:latin typeface="Arial" pitchFamily="34" charset="0"/>
                <a:ea typeface="Georgia" pitchFamily="34" charset="-122"/>
                <a:cs typeface="Arial" pitchFamily="34" charset="0"/>
              </a:rPr>
              <a:t>Project</a:t>
            </a:r>
            <a:endParaRPr lang="en-US" sz="32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9698" y="1589102"/>
            <a:ext cx="4880942" cy="71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retail database analysis built using SQL across 4 relational tables: </a:t>
            </a:r>
            <a:r>
              <a:rPr lang="en-US" sz="12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customers, orders</a:t>
            </a: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2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7251" y="2399813"/>
            <a:ext cx="54864" cy="6858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7825"/>
            <a:ext cx="365760" cy="51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467825"/>
            <a:ext cx="3154680" cy="27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&amp; Filters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741202"/>
            <a:ext cx="3154680" cy="326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WHERE, ORDER BY, LIMIT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78094" y="2376306"/>
            <a:ext cx="4114800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2391156"/>
            <a:ext cx="45719" cy="706354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060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F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2467825"/>
            <a:ext cx="3291840" cy="2575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734056"/>
            <a:ext cx="3291840" cy="2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BY, HAVING, COUNT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0814" y="3252180"/>
            <a:ext cx="3886866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214" y="3252180"/>
            <a:ext cx="54864" cy="685800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423630"/>
            <a:ext cx="448056" cy="4204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252180"/>
            <a:ext cx="3200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595080"/>
            <a:ext cx="3154680" cy="248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across 4 tables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88882" y="3252180"/>
            <a:ext cx="4217958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8882" y="3252180"/>
            <a:ext cx="54864" cy="685800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4015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8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9240" y="3337904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Statements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595080"/>
            <a:ext cx="3291840" cy="248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Range, Age Brackets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10814" y="4127006"/>
            <a:ext cx="3886866" cy="690327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6851" y="4127007"/>
            <a:ext cx="54864" cy="685800"/>
          </a:xfrm>
          <a:prstGeom prst="rect">
            <a:avLst/>
          </a:prstGeom>
          <a:solidFill>
            <a:srgbClr val="F0A040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197095"/>
            <a:ext cx="365760" cy="444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419709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Filtering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523615"/>
            <a:ext cx="2679725" cy="225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January &amp; February 2023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11740" y="4127006"/>
            <a:ext cx="4091941" cy="69942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88882" y="4127007"/>
            <a:ext cx="45719" cy="699427"/>
          </a:xfrm>
          <a:prstGeom prst="rect">
            <a:avLst/>
          </a:prstGeom>
          <a:solidFill>
            <a:srgbClr val="A060F0"/>
          </a:solidFill>
          <a:ln w="12700">
            <a:solidFill>
              <a:srgbClr val="A06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308154"/>
            <a:ext cx="365760" cy="333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6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49240" y="4197096"/>
            <a:ext cx="3291840" cy="222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4453128"/>
            <a:ext cx="3291840" cy="29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Combining result sets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13224" y="1589101"/>
            <a:ext cx="3154680" cy="710213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0" y="1695635"/>
            <a:ext cx="1005840" cy="52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7217546" y="1802167"/>
            <a:ext cx="1514974" cy="41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QUERIES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94" y="479395"/>
            <a:ext cx="8571389" cy="8345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531" y="120959"/>
            <a:ext cx="8167457" cy="358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6330" y="594359"/>
            <a:ext cx="6134470" cy="391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Georgia" pitchFamily="34" charset="-122"/>
                <a:cs typeface="Arial" pitchFamily="34" charset="0"/>
              </a:rPr>
              <a:t>Monthly Revenue — 2023</a:t>
            </a:r>
            <a:endParaRPr lang="en-US" sz="3200" dirty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7351" y="1074198"/>
            <a:ext cx="5246703" cy="2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SELECT ... WHERE </a:t>
            </a: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YEAR(order date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2023'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272784" y="1424532"/>
            <a:ext cx="2377440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95688" y="1424532"/>
            <a:ext cx="54864" cy="6858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9488" y="1424533"/>
            <a:ext cx="2011680" cy="244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 MONTH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0" y="1767432"/>
            <a:ext cx="2011680" cy="334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0C040"/>
                </a:solidFill>
                <a:latin typeface="Georgia" pitchFamily="34" charset="0"/>
              </a:rPr>
              <a:t>February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295688" y="2318004"/>
            <a:ext cx="2377440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04566" y="2318004"/>
            <a:ext cx="54864" cy="685800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318005"/>
            <a:ext cx="2011680" cy="238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LOWEST MONTH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92240" y="2556770"/>
            <a:ext cx="2011680" cy="372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06080"/>
                </a:solidFill>
                <a:latin typeface="Georgia" pitchFamily="34" charset="0"/>
              </a:rPr>
              <a:t>April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309360" y="3140964"/>
            <a:ext cx="2377440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30933" y="3141674"/>
            <a:ext cx="54864" cy="685800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3140965"/>
            <a:ext cx="2011680" cy="250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2023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92240" y="3391270"/>
            <a:ext cx="2011680" cy="344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r>
              <a:rPr lang="en-US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248k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309360" y="4027932"/>
            <a:ext cx="2377440" cy="68580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24274" y="4043202"/>
            <a:ext cx="54864" cy="685800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4043202"/>
            <a:ext cx="2011680" cy="253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</a:t>
            </a: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92240" y="4296792"/>
            <a:ext cx="2011680" cy="3462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 smtClean="0">
                <a:solidFill>
                  <a:srgbClr val="608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$26,084K</a:t>
            </a:r>
            <a:endParaRPr lang="en-US" sz="1800" dirty="0"/>
          </a:p>
        </p:txBody>
      </p:sp>
      <p:graphicFrame>
        <p:nvGraphicFramePr>
          <p:cNvPr id="24" name="Chart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23505"/>
              </p:ext>
            </p:extLst>
          </p:nvPr>
        </p:nvGraphicFramePr>
        <p:xfrm>
          <a:off x="204187" y="1669002"/>
          <a:ext cx="5379867" cy="30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084" y="411480"/>
            <a:ext cx="5971120" cy="289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084" y="772357"/>
            <a:ext cx="4160075" cy="370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latin typeface="Georgia" pitchFamily="34" charset="0"/>
                <a:ea typeface="Georgia" pitchFamily="34" charset="-122"/>
                <a:cs typeface="Georgia" pitchFamily="34" charset="-120"/>
              </a:rPr>
              <a:t>Average Price </a:t>
            </a: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by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3064" y="1233996"/>
            <a:ext cx="4749553" cy="233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#12: SELECT Category, ROUND(AVG(price),2) ... ORDER BY DESC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017477792"/>
              </p:ext>
            </p:extLst>
          </p:nvPr>
        </p:nvGraphicFramePr>
        <p:xfrm>
          <a:off x="284085" y="1645920"/>
          <a:ext cx="4447714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149049" y="701336"/>
            <a:ext cx="3720631" cy="44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Price Range Distribution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77840" y="1233996"/>
            <a:ext cx="3291840" cy="233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#28: CASE WHEN price &lt; 300 THEN 'Low' ...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15696" y="1621950"/>
            <a:ext cx="3216824" cy="775021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15696" y="1621950"/>
            <a:ext cx="54864" cy="775021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1713390"/>
            <a:ext cx="2286000" cy="266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( &lt; $300 )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0" y="2009461"/>
            <a:ext cx="1097280" cy="387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995160" y="1979720"/>
            <a:ext cx="1645920" cy="3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539666" y="2594410"/>
            <a:ext cx="3200400" cy="84124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43128" y="2598139"/>
            <a:ext cx="54864" cy="8412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2663301"/>
            <a:ext cx="2286000" cy="284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( $300–$700 )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715000" y="2947386"/>
            <a:ext cx="1097280" cy="390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995160" y="3015034"/>
            <a:ext cx="1645920" cy="322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</a:t>
            </a: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577840" y="3595456"/>
            <a:ext cx="3154680" cy="976544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595456"/>
            <a:ext cx="54864" cy="976544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3675356"/>
            <a:ext cx="2286000" cy="319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 ( &gt; $700 )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15000" y="4083728"/>
            <a:ext cx="1097280" cy="396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0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995160" y="4083728"/>
            <a:ext cx="1645920" cy="328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</a:t>
            </a: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5208" y="588590"/>
            <a:ext cx="8421622" cy="752914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2042"/>
            <a:ext cx="8229600" cy="355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58200" y="40571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199" y="588590"/>
            <a:ext cx="6929021" cy="414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Age Segments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3177"/>
            <a:ext cx="5029200" cy="2752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#29: CASE WHEN age &lt;= 33 THEN 'Young' ...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46439"/>
            <a:ext cx="1554480" cy="100584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5310"/>
            <a:ext cx="155448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62470"/>
            <a:ext cx="1325880" cy="129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YOUNG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1325880" cy="3475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1325880" cy="18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48840" y="1425310"/>
            <a:ext cx="1554480" cy="1026969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425310"/>
            <a:ext cx="1554480" cy="54864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58568" y="1559608"/>
            <a:ext cx="1325880" cy="22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CLASS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58568" y="1783080"/>
            <a:ext cx="1325880" cy="3475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258568" y="2194560"/>
            <a:ext cx="1325880" cy="18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0" y="1419008"/>
            <a:ext cx="1554480" cy="1033272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25520" y="1419007"/>
            <a:ext cx="1554480" cy="54864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1480174"/>
            <a:ext cx="1325880" cy="211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RETIRED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50208" y="1783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608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950208" y="2194560"/>
            <a:ext cx="1325880" cy="18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2578608"/>
            <a:ext cx="5029200" cy="342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Top 5 Customers by Spend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2989378"/>
            <a:ext cx="5029200" cy="22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Query #31: JOIN customers + orders → SUM LIMIT 5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75915"/>
              </p:ext>
            </p:extLst>
          </p:nvPr>
        </p:nvGraphicFramePr>
        <p:xfrm>
          <a:off x="457200" y="3328416"/>
          <a:ext cx="4846320" cy="1527048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1645920"/>
              </a:tblGrid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 Spent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Oliver</a:t>
                      </a:r>
                      <a:r>
                        <a:rPr lang="en-US" sz="1000" baseline="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 W.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$6,408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Violet B.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$5,169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Theodore</a:t>
                      </a:r>
                      <a:r>
                        <a:rPr lang="en-US" sz="1000" baseline="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$4,467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Jaxon</a:t>
                      </a: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$3,803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2545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Logan T.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$3,666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5669280" y="1419007"/>
            <a:ext cx="3017520" cy="84781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85082" y="1408798"/>
            <a:ext cx="49092" cy="858027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1446440"/>
            <a:ext cx="2651760" cy="226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CUSTOMERS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5852160" y="1691640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669280" y="2375997"/>
            <a:ext cx="3017520" cy="74980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75937" y="2375997"/>
            <a:ext cx="54864" cy="749808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2452280"/>
            <a:ext cx="2651760" cy="219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REPRESENTED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5852160" y="2672179"/>
            <a:ext cx="2651760" cy="317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F0B0"/>
                </a:solidFill>
                <a:latin typeface="Georgia" pitchFamily="34" charset="0"/>
              </a:rPr>
              <a:t>5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5669280" y="3218688"/>
            <a:ext cx="3017520" cy="74980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0" y="3218688"/>
            <a:ext cx="54864" cy="749808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52160" y="3328416"/>
            <a:ext cx="265176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CITY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6" name="Text 33"/>
          <p:cNvSpPr/>
          <p:nvPr/>
        </p:nvSpPr>
        <p:spPr>
          <a:xfrm>
            <a:off x="5852160" y="3593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06080"/>
                </a:solidFill>
                <a:latin typeface="Georgia" pitchFamily="34" charset="0"/>
              </a:rPr>
              <a:t>Chicago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5679310" y="4069080"/>
            <a:ext cx="3017520" cy="749808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685082" y="4069080"/>
            <a:ext cx="49092" cy="786384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52160" y="4181384"/>
            <a:ext cx="2651760" cy="231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JAN–FEB REPEAT BUYERS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5852160" y="44439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080F0"/>
                </a:solidFill>
                <a:latin typeface="Georgia" pitchFamily="34" charset="0"/>
              </a:rPr>
              <a:t>9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7350"/>
            <a:ext cx="9144000" cy="485609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9899" y="337350"/>
            <a:ext cx="8584707" cy="4856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BREAKDOWN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Category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#32: JOIN products + order_items → SUM(qty × price) GROUP BY Category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594498028"/>
              </p:ext>
            </p:extLst>
          </p:nvPr>
        </p:nvGraphicFramePr>
        <p:xfrm>
          <a:off x="457200" y="169164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91748"/>
              </p:ext>
            </p:extLst>
          </p:nvPr>
        </p:nvGraphicFramePr>
        <p:xfrm>
          <a:off x="5486400" y="1691638"/>
          <a:ext cx="3291840" cy="1575344"/>
        </p:xfrm>
        <a:graphic>
          <a:graphicData uri="http://schemas.openxmlformats.org/drawingml/2006/table">
            <a:tbl>
              <a:tblPr/>
              <a:tblGrid>
                <a:gridCol w="1642369"/>
                <a:gridCol w="1009391"/>
                <a:gridCol w="640080"/>
              </a:tblGrid>
              <a:tr h="393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Share</a:t>
                      </a:r>
                      <a:endParaRPr lang="en-US" sz="1000" dirty="0">
                        <a:solidFill>
                          <a:schemeClr val="bg1"/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393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Electronics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$110,090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393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Home</a:t>
                      </a:r>
                      <a:r>
                        <a:rPr lang="en-US" sz="1000" baseline="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 Appliance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$72,076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  <a:tr h="393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charset="0"/>
                          <a:cs typeface="Consolas" charset="0"/>
                        </a:rPr>
                        <a:t>Accessories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$66,060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smtClean="0">
                          <a:solidFill>
                            <a:srgbClr val="E8EA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27%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8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0" y="3773010"/>
            <a:ext cx="3291840" cy="958788"/>
          </a:xfrm>
          <a:prstGeom prst="rect">
            <a:avLst/>
          </a:prstGeom>
          <a:solidFill>
            <a:srgbClr val="111318"/>
          </a:solidFill>
          <a:ln w="12700">
            <a:solidFill>
              <a:srgbClr val="F0C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23560" y="3897297"/>
            <a:ext cx="1371600" cy="559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7040880" y="3897297"/>
            <a:ext cx="1554480" cy="559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r>
              <a:rPr lang="en-US" sz="16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248,226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38" y="142044"/>
            <a:ext cx="5721658" cy="3551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ORDER SIZE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03920" y="228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453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Order Segmentation by Size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47566"/>
            <a:ext cx="6929021" cy="292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#30: CASE WHEN total_amount &lt; 500 THEN 'Small' WHEN ... BETWEEN 500 AND 1000 THEN 'Medium' ...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07240276"/>
              </p:ext>
            </p:extLst>
          </p:nvPr>
        </p:nvGraphicFramePr>
        <p:xfrm>
          <a:off x="457200" y="1526959"/>
          <a:ext cx="4389120" cy="3109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193792" y="1433832"/>
            <a:ext cx="3657600" cy="960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93792" y="1433832"/>
            <a:ext cx="54864" cy="960120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76672" y="1526959"/>
            <a:ext cx="1828800" cy="274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F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76673" y="1801368"/>
            <a:ext cx="1755648" cy="2582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 &lt; $500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205472" y="1526959"/>
            <a:ext cx="1389888" cy="621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 smtClean="0">
                <a:solidFill>
                  <a:srgbClr val="4AF0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376672" y="2059620"/>
            <a:ext cx="2286000" cy="230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201070" y="2544318"/>
            <a:ext cx="3657600" cy="960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222911" y="2547359"/>
            <a:ext cx="54864" cy="9601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6672" y="2627790"/>
            <a:ext cx="1664208" cy="27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76673" y="2898648"/>
            <a:ext cx="1565665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$500 – $1,000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7205472" y="2627790"/>
            <a:ext cx="1389888" cy="522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 smtClean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376671" y="3150108"/>
            <a:ext cx="1317091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221224" y="3762889"/>
            <a:ext cx="3648456" cy="96012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30457" y="3794495"/>
            <a:ext cx="54864" cy="960120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76672" y="3852909"/>
            <a:ext cx="1828800" cy="213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76672" y="4128117"/>
            <a:ext cx="1828800" cy="239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 &gt; $1,000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86220" y="3852909"/>
            <a:ext cx="1209139" cy="645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b="1" dirty="0" smtClean="0">
                <a:solidFill>
                  <a:srgbClr val="F06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5376672" y="4367815"/>
            <a:ext cx="1668780" cy="268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 </a:t>
            </a:r>
            <a:r>
              <a:rPr lang="en-US" sz="9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399" y="97654"/>
            <a:ext cx="8816103" cy="754602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654"/>
            <a:ext cx="320040" cy="131966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9798"/>
            <a:ext cx="7759527" cy="597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>
              <a:solidFill>
                <a:srgbClr val="FFC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274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86" y="924964"/>
            <a:ext cx="8494733" cy="53994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4908" y="922789"/>
            <a:ext cx="45719" cy="52578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405" y="994299"/>
            <a:ext cx="411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9884" y="994299"/>
            <a:ext cx="78837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Georgia" pitchFamily="18" charset="0"/>
              </a:rPr>
              <a:t>Implement a monthly revenue monitoring system that triggers an alert whenever revenue falls below a predefined </a:t>
            </a:r>
            <a:r>
              <a:rPr lang="en-US" sz="1200" dirty="0" smtClean="0">
                <a:solidFill>
                  <a:schemeClr val="bg1"/>
                </a:solidFill>
                <a:latin typeface="Georgia" pitchFamily="18" charset="0"/>
              </a:rPr>
              <a:t>threshold</a:t>
            </a:r>
            <a:r>
              <a:rPr lang="en-US" sz="1100" dirty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en-US" sz="11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" y="195681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86" y="1563532"/>
            <a:ext cx="8494733" cy="539407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flipH="1">
            <a:off x="475933" y="1549129"/>
            <a:ext cx="45719" cy="553810"/>
          </a:xfrm>
          <a:prstGeom prst="rect">
            <a:avLst/>
          </a:prstGeom>
          <a:solidFill>
            <a:srgbClr val="4AF0B0"/>
          </a:solidFill>
          <a:ln w="12700">
            <a:solidFill>
              <a:srgbClr val="4AF0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161" y="1664829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F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9884" y="1594669"/>
            <a:ext cx="7826643" cy="38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a loyalty reward program for customers who cross-shop across different </a:t>
            </a:r>
            <a:r>
              <a:rPr lang="en-US" sz="1200" b="1" dirty="0" smtClean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categories.</a:t>
            </a:r>
            <a:endParaRPr lang="en-US" sz="1200" b="1" dirty="0">
              <a:solidFill>
                <a:srgbClr val="E8EAF0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56048" y="195681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932" y="2233710"/>
            <a:ext cx="8485187" cy="521297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86" y="2255061"/>
            <a:ext cx="45719" cy="514105"/>
          </a:xfrm>
          <a:prstGeom prst="rect">
            <a:avLst/>
          </a:prstGeom>
          <a:solidFill>
            <a:srgbClr val="F06080"/>
          </a:solidFill>
          <a:ln w="12700">
            <a:solidFill>
              <a:srgbClr val="F06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8405" y="2325951"/>
            <a:ext cx="411480" cy="353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7641" y="2348054"/>
            <a:ext cx="780888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 digital and regional promotions in top-performing cities.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" y="31638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86" y="2833485"/>
            <a:ext cx="8494734" cy="580422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895" y="2843427"/>
            <a:ext cx="45719" cy="580422"/>
          </a:xfrm>
          <a:prstGeom prst="rect">
            <a:avLst/>
          </a:prstGeom>
          <a:solidFill>
            <a:srgbClr val="6080F0"/>
          </a:solidFill>
          <a:ln w="12700">
            <a:solidFill>
              <a:srgbClr val="608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8405" y="30358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8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640" y="2911877"/>
            <a:ext cx="7836319" cy="379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E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sales/customer service employees to propose additional items to buyers who are reaching the $1,000 limit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6048" y="31638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894" y="3502152"/>
            <a:ext cx="8494225" cy="557784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85" y="3490722"/>
            <a:ext cx="45719" cy="580644"/>
          </a:xfrm>
          <a:prstGeom prst="rect">
            <a:avLst/>
          </a:prstGeom>
          <a:solidFill>
            <a:srgbClr val="F0A040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405" y="364268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9884" y="3616941"/>
            <a:ext cx="7762635" cy="281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Georgia" pitchFamily="18" charset="0"/>
              </a:rPr>
              <a:t>Expand premium electronics inventory to meet demand and strengthen market position.</a:t>
            </a:r>
            <a:endParaRPr lang="en-US" sz="1200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" y="43708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3369" y="4162806"/>
            <a:ext cx="8497752" cy="525780"/>
          </a:xfrm>
          <a:prstGeom prst="rect">
            <a:avLst/>
          </a:prstGeom>
          <a:solidFill>
            <a:srgbClr val="111318"/>
          </a:solidFill>
          <a:ln w="12700">
            <a:solidFill>
              <a:srgbClr val="23283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5225" y="4142232"/>
            <a:ext cx="45719" cy="546354"/>
          </a:xfrm>
          <a:prstGeom prst="rect">
            <a:avLst/>
          </a:prstGeom>
          <a:solidFill>
            <a:srgbClr val="A060F0"/>
          </a:solidFill>
          <a:ln w="12700">
            <a:solidFill>
              <a:srgbClr val="A06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8405" y="4370477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6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7640" y="4306824"/>
            <a:ext cx="78660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  <a:latin typeface="Georgia" pitchFamily="18" charset="0"/>
              </a:rPr>
              <a:t>Offer extended warranties and bundled products to increase customer value and sales</a:t>
            </a:r>
            <a:r>
              <a:rPr lang="en-US" sz="1400" dirty="0"/>
              <a:t>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13176" y="44531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512</Words>
  <Application>Microsoft Office PowerPoint</Application>
  <PresentationFormat>On-screen Show (16:9)</PresentationFormat>
  <Paragraphs>159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</dc:title>
  <dc:subject>PptxGenJS Presentation</dc:subject>
  <dc:creator>Retail Analytics</dc:creator>
  <cp:lastModifiedBy>Yemi Praise</cp:lastModifiedBy>
  <cp:revision>33</cp:revision>
  <dcterms:created xsi:type="dcterms:W3CDTF">2026-02-10T15:59:32Z</dcterms:created>
  <dcterms:modified xsi:type="dcterms:W3CDTF">2026-02-11T16:34:11Z</dcterms:modified>
</cp:coreProperties>
</file>